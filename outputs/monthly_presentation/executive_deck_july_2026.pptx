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team. This slide presents the health of our active S2P implementation portfolio. Both projects are currently in Red status, driven by significant delays in configuration workshops and massive gaps in resource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the 3-week rolling trends, we see a rapid decline in both projects. This is not a sudden drop but an acceleration of build delays that have gone unmitigated.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prioritized our risks. The top three are schedule slippages on S2P Phase 2, Hypercare stalls on S2P, and the extensive resource gaps across the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breaks down the specific schedule offenders. S2P Phase 2 is currently 81 days late against baseline, and Plan B's Training is pushing out critical launch dates.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Resource assignment is our biggest bottleneck. With 67% of tasks unassigned in the S2P project, progress has halted. We also have three active blockers on JDE and D&amp;B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recover, we must immediately assign resources to critical path tasks, escalate the D&amp;B integration credential blocker today, and adjust our baselines for the remaining S2P phases.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next 30 days, we face a critical decision. If we don't allocate resources now, our December Go-Live for Titan will slip into early next year. Intervening now recovers crucial schedule variance.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Portfolio Health Overview</a:t>
            </a:r>
          </a:p>
          <a:p>
            <a:pPr>
              <a:defRPr i="1" sz="1200">
                <a:solidFill>
                  <a:srgbClr val="0096D6"/>
                </a:solidFill>
                <a:latin typeface="Calibri"/>
              </a:defRPr>
            </a:pPr>
            <a:r>
              <a:t>Critical schedule and resource risks impacting S2P implementation timelines</a:t>
            </a:r>
          </a:p>
        </p:txBody>
      </p:sp>
      <p:sp>
        <p:nvSpPr>
          <p:cNvPr id="4" name="TextBox 3"/>
          <p:cNvSpPr txBox="1"/>
          <p:nvPr/>
        </p:nvSpPr>
        <p:spPr>
          <a:xfrm>
            <a:off x="457200" y="1280160"/>
            <a:ext cx="6400800" cy="4572000"/>
          </a:xfrm>
          <a:prstGeom prst="rect">
            <a:avLst/>
          </a:prstGeom>
          <a:noFill/>
        </p:spPr>
        <p:txBody>
          <a:bodyPr wrap="square">
            <a:spAutoFit/>
          </a:bodyPr>
          <a:lstStyle/>
          <a:p>
            <a:pPr>
              <a:spcAft>
                <a:spcPts val="1000"/>
              </a:spcAft>
              <a:defRPr sz="1400">
                <a:solidFill>
                  <a:srgbClr val="333333"/>
                </a:solidFill>
                <a:latin typeface="Calibri"/>
              </a:defRPr>
            </a:pPr>
            <a:r>
              <a:t>• S2P Project (Titan) is currently RED with composite score of 33/100.</a:t>
            </a:r>
          </a:p>
          <a:p>
            <a:pPr>
              <a:spcAft>
                <a:spcPts val="1000"/>
              </a:spcAft>
              <a:defRPr sz="1400">
                <a:solidFill>
                  <a:srgbClr val="333333"/>
                </a:solidFill>
                <a:latin typeface="Calibri"/>
              </a:defRPr>
            </a:pPr>
            <a:r>
              <a:t>• Project Plan B (UniSan) is currently RED with composite score of 32/100.</a:t>
            </a:r>
          </a:p>
          <a:p>
            <a:pPr>
              <a:spcAft>
                <a:spcPts val="1000"/>
              </a:spcAft>
              <a:defRPr sz="1400">
                <a:solidFill>
                  <a:srgbClr val="333333"/>
                </a:solidFill>
                <a:latin typeface="Calibri"/>
              </a:defRPr>
            </a:pPr>
            <a:r>
              <a:t>• Both projects suffer from severe resource allocation shortages.</a:t>
            </a:r>
          </a:p>
          <a:p>
            <a:pPr>
              <a:spcAft>
                <a:spcPts val="1000"/>
              </a:spcAft>
              <a:defRPr sz="1400">
                <a:solidFill>
                  <a:srgbClr val="333333"/>
                </a:solidFill>
                <a:latin typeface="Calibri"/>
              </a:defRPr>
            </a:pPr>
            <a:r>
              <a:t>• Active tasks unassigned: S2P (67.5%), Project Plan B (35.4%).</a:t>
            </a:r>
          </a:p>
          <a:p>
            <a:pPr>
              <a:spcAft>
                <a:spcPts val="1000"/>
              </a:spcAft>
              <a:defRPr sz="1400">
                <a:solidFill>
                  <a:srgbClr val="333333"/>
                </a:solidFill>
                <a:latin typeface="Calibri"/>
              </a:defRPr>
            </a:pPr>
            <a:r>
              <a:t>• Cascading schedule delays are impacting downstream Hypercare phases.</a:t>
            </a:r>
          </a:p>
        </p:txBody>
      </p:sp>
      <p:sp>
        <p:nvSpPr>
          <p:cNvPr id="5" name="Rounded Rectangle 4"/>
          <p:cNvSpPr/>
          <p:nvPr/>
        </p:nvSpPr>
        <p:spPr>
          <a:xfrm>
            <a:off x="7315200" y="1371600"/>
            <a:ext cx="4389120" cy="2103120"/>
          </a:xfrm>
          <a:prstGeom prst="roundRect">
            <a:avLst/>
          </a:prstGeom>
          <a:solidFill>
            <a:srgbClr val="F4F6F9"/>
          </a:solidFill>
          <a:ln>
            <a:solidFill>
              <a:srgbClr val="2D4A7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B2A4A"/>
                </a:solidFill>
              </a:defRPr>
            </a:pPr>
            <a:r>
              <a:t>Project A: S2P Titan Implementation</a:t>
            </a:r>
          </a:p>
          <a:p>
            <a:pPr>
              <a:defRPr sz="1200">
                <a:solidFill>
                  <a:srgbClr val="333333"/>
                </a:solidFill>
              </a:defRPr>
            </a:pPr>
            <a:r>
              <a:t>Overall Status: 🔴 RED</a:t>
            </a:r>
            <a:br/>
            <a:r>
              <a:t>Completion: 71%</a:t>
            </a:r>
            <a:br/>
            <a:r>
              <a:t>Schedule Index (SPI): 0.77</a:t>
            </a:r>
            <a:br/>
            <a:r>
              <a:t>Unassigned tasks: 67.5%</a:t>
            </a:r>
          </a:p>
        </p:txBody>
      </p:sp>
      <p:sp>
        <p:nvSpPr>
          <p:cNvPr id="6" name="Rounded Rectangle 5"/>
          <p:cNvSpPr/>
          <p:nvPr/>
        </p:nvSpPr>
        <p:spPr>
          <a:xfrm>
            <a:off x="7315200" y="3840480"/>
            <a:ext cx="4389120" cy="2103120"/>
          </a:xfrm>
          <a:prstGeom prst="roundRect">
            <a:avLst/>
          </a:prstGeom>
          <a:solidFill>
            <a:srgbClr val="F4F6F9"/>
          </a:solidFill>
          <a:ln>
            <a:solidFill>
              <a:srgbClr val="2D4A7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B2A4A"/>
                </a:solidFill>
              </a:defRPr>
            </a:pPr>
            <a:r>
              <a:t>Project B: S2P UniSan Implementation</a:t>
            </a:r>
          </a:p>
          <a:p>
            <a:pPr>
              <a:defRPr sz="1200">
                <a:solidFill>
                  <a:srgbClr val="333333"/>
                </a:solidFill>
              </a:defRPr>
            </a:pPr>
            <a:r>
              <a:t>Overall Status: 🔴 RED</a:t>
            </a:r>
            <a:br/>
            <a:r>
              <a:t>Completion: 44%</a:t>
            </a:r>
            <a:br/>
            <a:r>
              <a:t>Schedule Index (SPI): 0.79</a:t>
            </a:r>
            <a:br/>
            <a:r>
              <a:t>Unassigned tasks: 35.4%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Portfolio Trajectory Trends</a:t>
            </a:r>
          </a:p>
          <a:p>
            <a:pPr>
              <a:defRPr i="1" sz="1200">
                <a:solidFill>
                  <a:srgbClr val="0096D6"/>
                </a:solidFill>
                <a:latin typeface="Calibri"/>
              </a:defRPr>
            </a:pPr>
            <a:r>
              <a:t>Steep decline in health metrics over the past 3 weeks</a:t>
            </a:r>
          </a:p>
        </p:txBody>
      </p:sp>
      <p:sp>
        <p:nvSpPr>
          <p:cNvPr id="4" name="TextBox 3"/>
          <p:cNvSpPr txBox="1"/>
          <p:nvPr/>
        </p:nvSpPr>
        <p:spPr>
          <a:xfrm>
            <a:off x="457200" y="1280160"/>
            <a:ext cx="5486400" cy="4572000"/>
          </a:xfrm>
          <a:prstGeom prst="rect">
            <a:avLst/>
          </a:prstGeom>
          <a:noFill/>
        </p:spPr>
        <p:txBody>
          <a:bodyPr wrap="square">
            <a:spAutoFit/>
          </a:bodyPr>
          <a:lstStyle/>
          <a:p>
            <a:pPr>
              <a:spcAft>
                <a:spcPts val="1000"/>
              </a:spcAft>
              <a:defRPr sz="1400">
                <a:solidFill>
                  <a:srgbClr val="333333"/>
                </a:solidFill>
                <a:latin typeface="Calibri"/>
              </a:defRPr>
            </a:pPr>
            <a:r>
              <a:t>• S2P Project composite health fell from 52 (Amber) to 33 (Red) in 14 days.</a:t>
            </a:r>
          </a:p>
          <a:p>
            <a:pPr>
              <a:spcAft>
                <a:spcPts val="1000"/>
              </a:spcAft>
              <a:defRPr sz="1400">
                <a:solidFill>
                  <a:srgbClr val="333333"/>
                </a:solidFill>
                <a:latin typeface="Calibri"/>
              </a:defRPr>
            </a:pPr>
            <a:r>
              <a:t>• Project Plan B health dropped from 48 (Amber) to 32 (Red) in the same period.</a:t>
            </a:r>
          </a:p>
          <a:p>
            <a:pPr>
              <a:spcAft>
                <a:spcPts val="1000"/>
              </a:spcAft>
              <a:defRPr sz="1400">
                <a:solidFill>
                  <a:srgbClr val="333333"/>
                </a:solidFill>
                <a:latin typeface="Calibri"/>
              </a:defRPr>
            </a:pPr>
            <a:r>
              <a:t>• Timeline compression is accelerating in build and configuration phases.</a:t>
            </a:r>
          </a:p>
          <a:p>
            <a:pPr>
              <a:spcAft>
                <a:spcPts val="1000"/>
              </a:spcAft>
              <a:defRPr sz="1400">
                <a:solidFill>
                  <a:srgbClr val="333333"/>
                </a:solidFill>
                <a:latin typeface="Calibri"/>
              </a:defRPr>
            </a:pPr>
            <a:r>
              <a:t>• Schedule performance index (SPI) for both projects is below 0.80.</a:t>
            </a:r>
          </a:p>
          <a:p>
            <a:pPr>
              <a:spcAft>
                <a:spcPts val="1000"/>
              </a:spcAft>
              <a:defRPr sz="1400">
                <a:solidFill>
                  <a:srgbClr val="333333"/>
                </a:solidFill>
                <a:latin typeface="Calibri"/>
              </a:defRPr>
            </a:pPr>
            <a:r>
              <a:t>• Trajectory is DECLINING, and urgent executive intervention is required.</a:t>
            </a:r>
          </a:p>
        </p:txBody>
      </p:sp>
      <p:pic>
        <p:nvPicPr>
          <p:cNvPr id="5" name="Picture 4" descr="trend_chart.png"/>
          <p:cNvPicPr>
            <a:picLocks noChangeAspect="1"/>
          </p:cNvPicPr>
          <p:nvPr/>
        </p:nvPicPr>
        <p:blipFill>
          <a:blip r:embed="rId2"/>
          <a:stretch>
            <a:fillRect/>
          </a:stretch>
        </p:blipFill>
        <p:spPr>
          <a:xfrm>
            <a:off x="6400800" y="1371600"/>
            <a:ext cx="5303520" cy="43891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Critical Risk Matrix</a:t>
            </a:r>
          </a:p>
          <a:p>
            <a:pPr>
              <a:defRPr i="1" sz="1200">
                <a:solidFill>
                  <a:srgbClr val="0096D6"/>
                </a:solidFill>
                <a:latin typeface="Calibri"/>
              </a:defRPr>
            </a:pPr>
            <a:r>
              <a:t>Core schedule, resource, and blocker issues mapped by impact</a:t>
            </a:r>
          </a:p>
        </p:txBody>
      </p:sp>
      <p:sp>
        <p:nvSpPr>
          <p:cNvPr id="4" name="TextBox 3"/>
          <p:cNvSpPr txBox="1"/>
          <p:nvPr/>
        </p:nvSpPr>
        <p:spPr>
          <a:xfrm>
            <a:off x="457200" y="1280160"/>
            <a:ext cx="6858000" cy="4572000"/>
          </a:xfrm>
          <a:prstGeom prst="rect">
            <a:avLst/>
          </a:prstGeom>
          <a:noFill/>
        </p:spPr>
        <p:txBody>
          <a:bodyPr wrap="square">
            <a:spAutoFit/>
          </a:bodyPr>
          <a:lstStyle/>
          <a:p>
            <a:pPr>
              <a:spcAft>
                <a:spcPts val="1000"/>
              </a:spcAft>
              <a:defRPr sz="1400">
                <a:solidFill>
                  <a:srgbClr val="333333"/>
                </a:solidFill>
                <a:latin typeface="Calibri"/>
              </a:defRPr>
            </a:pPr>
            <a:r>
              <a:t>• Risk 1: S2P Phase 2 P2P schedule delay of 81 days (High Impact / High Likelihood).</a:t>
            </a:r>
          </a:p>
          <a:p>
            <a:pPr>
              <a:spcAft>
                <a:spcPts val="1000"/>
              </a:spcAft>
              <a:defRPr sz="1400">
                <a:solidFill>
                  <a:srgbClr val="333333"/>
                </a:solidFill>
                <a:latin typeface="Calibri"/>
              </a:defRPr>
            </a:pPr>
            <a:r>
              <a:t>• Risk 2: S2P Hypercare 6% complete with 30-day slip (High Impact / High Likelihood).</a:t>
            </a:r>
          </a:p>
          <a:p>
            <a:pPr>
              <a:spcAft>
                <a:spcPts val="1000"/>
              </a:spcAft>
              <a:defRPr sz="1400">
                <a:solidFill>
                  <a:srgbClr val="333333"/>
                </a:solidFill>
                <a:latin typeface="Calibri"/>
              </a:defRPr>
            </a:pPr>
            <a:r>
              <a:t>• Risk 3: S2P Resource Gap (67% active tasks unassigned) (High Impact / High Likelihood).</a:t>
            </a:r>
          </a:p>
          <a:p>
            <a:pPr>
              <a:spcAft>
                <a:spcPts val="1000"/>
              </a:spcAft>
              <a:defRPr sz="1400">
                <a:solidFill>
                  <a:srgbClr val="333333"/>
                </a:solidFill>
                <a:latin typeface="Calibri"/>
              </a:defRPr>
            </a:pPr>
            <a:r>
              <a:t>• Risk 4: Plan B Training Phase I delay of 17 days (Medium Impact / High Likelihood).</a:t>
            </a:r>
          </a:p>
          <a:p>
            <a:pPr>
              <a:spcAft>
                <a:spcPts val="1000"/>
              </a:spcAft>
              <a:defRPr sz="1400">
                <a:solidFill>
                  <a:srgbClr val="333333"/>
                </a:solidFill>
                <a:latin typeface="Calibri"/>
              </a:defRPr>
            </a:pPr>
            <a:r>
              <a:t>• Risk 5: Plan B Configuration Documentation delay of 13 days (Medium Impact / Medium Likelihood).</a:t>
            </a:r>
          </a:p>
        </p:txBody>
      </p:sp>
      <p:sp>
        <p:nvSpPr>
          <p:cNvPr id="5" name="Rectangle 4"/>
          <p:cNvSpPr/>
          <p:nvPr/>
        </p:nvSpPr>
        <p:spPr>
          <a:xfrm>
            <a:off x="7772400" y="1371600"/>
            <a:ext cx="3931920" cy="4114800"/>
          </a:xfrm>
          <a:prstGeom prst="rect">
            <a:avLst/>
          </a:prstGeom>
          <a:solidFill>
            <a:srgbClr val="F4F6F9"/>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B2A4A"/>
                </a:solidFill>
              </a:defRPr>
            </a:pPr>
            <a:r>
              <a:t>CRITICAL RISK HEATMAP</a:t>
            </a:r>
          </a:p>
          <a:p>
            <a:br/>
            <a:pPr>
              <a:defRPr sz="1100">
                <a:solidFill>
                  <a:srgbClr val="333333"/>
                </a:solidFill>
              </a:defRPr>
            </a:pPr>
            <a:r>
              <a:t>🔥 [HIGH IMPACT / HIGH LIKELIHOOD]</a:t>
            </a:r>
            <a:br/>
            <a:r>
              <a:t>- Phase 2 P2P Schedule Slip (-81d)</a:t>
            </a:r>
            <a:br/>
            <a:r>
              <a:t>- S2P Hypercare Stall (6% complete)</a:t>
            </a:r>
            <a:br/>
            <a:r>
              <a:t>- Titan Resource Deficit (67.5% missing)</a:t>
            </a:r>
            <a:br/>
            <a:br/>
            <a:r>
              <a:t>⚡ [HIGH IMPACT / MED LIKELIHOOD]</a:t>
            </a:r>
            <a:br/>
            <a:r>
              <a:t>- Plan B Training Phase I Slip (+17d)</a:t>
            </a:r>
            <a:br/>
            <a:br/>
            <a:r>
              <a:t>⚠️ [MED IMPACT / MED LIKELIHOOD]</a:t>
            </a:r>
            <a:br/>
            <a:r>
              <a:t>- Plan B Config Documentation delay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Schedule Performance Deep-Dive</a:t>
            </a:r>
          </a:p>
          <a:p>
            <a:pPr>
              <a:defRPr i="1" sz="1200">
                <a:solidFill>
                  <a:srgbClr val="0096D6"/>
                </a:solidFill>
                <a:latin typeface="Calibri"/>
              </a:defRPr>
            </a:pPr>
            <a:r>
              <a:t>Detailed look at milestone slippages across key phases</a:t>
            </a:r>
          </a:p>
        </p:txBody>
      </p:sp>
      <p:sp>
        <p:nvSpPr>
          <p:cNvPr id="4" name="TextBox 3"/>
          <p:cNvSpPr txBox="1"/>
          <p:nvPr/>
        </p:nvSpPr>
        <p:spPr>
          <a:xfrm>
            <a:off x="457200" y="1280160"/>
            <a:ext cx="10972800" cy="4572000"/>
          </a:xfrm>
          <a:prstGeom prst="rect">
            <a:avLst/>
          </a:prstGeom>
          <a:noFill/>
        </p:spPr>
        <p:txBody>
          <a:bodyPr wrap="square">
            <a:spAutoFit/>
          </a:bodyPr>
          <a:lstStyle/>
          <a:p>
            <a:pPr>
              <a:spcAft>
                <a:spcPts val="1000"/>
              </a:spcAft>
              <a:defRPr sz="1400">
                <a:solidFill>
                  <a:srgbClr val="333333"/>
                </a:solidFill>
                <a:latin typeface="Calibri"/>
              </a:defRPr>
            </a:pPr>
            <a:r>
              <a:t>• S2P build phase is running 32 days behind schedule (98% done but stalled).</a:t>
            </a:r>
          </a:p>
          <a:p>
            <a:pPr>
              <a:spcAft>
                <a:spcPts val="1000"/>
              </a:spcAft>
              <a:defRPr sz="1400">
                <a:solidFill>
                  <a:srgbClr val="333333"/>
                </a:solidFill>
                <a:latin typeface="Calibri"/>
              </a:defRPr>
            </a:pPr>
            <a:r>
              <a:t>• S2P Phase 2 P2P is currently 21% complete with -81 days variance.</a:t>
            </a:r>
          </a:p>
          <a:p>
            <a:pPr>
              <a:spcAft>
                <a:spcPts val="1000"/>
              </a:spcAft>
              <a:defRPr sz="1400">
                <a:solidFill>
                  <a:srgbClr val="333333"/>
                </a:solidFill>
                <a:latin typeface="Calibri"/>
              </a:defRPr>
            </a:pPr>
            <a:r>
              <a:t>• Plan B Training Phase I is delayed 17 days, causing cascading impacts.</a:t>
            </a:r>
          </a:p>
          <a:p>
            <a:pPr>
              <a:spcAft>
                <a:spcPts val="1000"/>
              </a:spcAft>
              <a:defRPr sz="1400">
                <a:solidFill>
                  <a:srgbClr val="333333"/>
                </a:solidFill>
                <a:latin typeface="Calibri"/>
              </a:defRPr>
            </a:pPr>
            <a:r>
              <a:t>• Plan B Hypercare Phase I has a 13-day delay (25% complete).</a:t>
            </a:r>
          </a:p>
          <a:p>
            <a:pPr>
              <a:spcAft>
                <a:spcPts val="1000"/>
              </a:spcAft>
              <a:defRPr sz="1400">
                <a:solidFill>
                  <a:srgbClr val="333333"/>
                </a:solidFill>
                <a:latin typeface="Calibri"/>
              </a:defRPr>
            </a:pPr>
            <a:r>
              <a:t>• Late configuration document approvals are compressing testing cycles.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Resource Gaps &amp; Dependency Analysis</a:t>
            </a:r>
          </a:p>
          <a:p>
            <a:pPr>
              <a:defRPr i="1" sz="1200">
                <a:solidFill>
                  <a:srgbClr val="0096D6"/>
                </a:solidFill>
                <a:latin typeface="Calibri"/>
              </a:defRPr>
            </a:pPr>
            <a:r>
              <a:t>Unassigned active tasks and critical path blocker review</a:t>
            </a:r>
          </a:p>
        </p:txBody>
      </p:sp>
      <p:sp>
        <p:nvSpPr>
          <p:cNvPr id="4" name="TextBox 3"/>
          <p:cNvSpPr txBox="1"/>
          <p:nvPr/>
        </p:nvSpPr>
        <p:spPr>
          <a:xfrm>
            <a:off x="457200" y="1280160"/>
            <a:ext cx="5486400" cy="4572000"/>
          </a:xfrm>
          <a:prstGeom prst="rect">
            <a:avLst/>
          </a:prstGeom>
          <a:noFill/>
        </p:spPr>
        <p:txBody>
          <a:bodyPr wrap="square">
            <a:spAutoFit/>
          </a:bodyPr>
          <a:lstStyle/>
          <a:p>
            <a:pPr>
              <a:spcAft>
                <a:spcPts val="1000"/>
              </a:spcAft>
              <a:defRPr sz="1400">
                <a:solidFill>
                  <a:srgbClr val="333333"/>
                </a:solidFill>
                <a:latin typeface="Calibri"/>
              </a:defRPr>
            </a:pPr>
            <a:r>
              <a:t>• S2P Project: 333 tasks (67%) have no assigned owner.</a:t>
            </a:r>
          </a:p>
          <a:p>
            <a:pPr>
              <a:spcAft>
                <a:spcPts val="1000"/>
              </a:spcAft>
              <a:defRPr sz="1400">
                <a:solidFill>
                  <a:srgbClr val="333333"/>
                </a:solidFill>
                <a:latin typeface="Calibri"/>
              </a:defRPr>
            </a:pPr>
            <a:r>
              <a:t>• Project Plan B: 136 tasks (35%) have no assigned owner.</a:t>
            </a:r>
          </a:p>
          <a:p>
            <a:pPr>
              <a:spcAft>
                <a:spcPts val="1000"/>
              </a:spcAft>
              <a:defRPr sz="1400">
                <a:solidFill>
                  <a:srgbClr val="333333"/>
                </a:solidFill>
                <a:latin typeface="Calibri"/>
              </a:defRPr>
            </a:pPr>
            <a:r>
              <a:t>• S2P has 3 active blockers 'On Hold' related to D&amp;B integrations.</a:t>
            </a:r>
          </a:p>
          <a:p>
            <a:pPr>
              <a:spcAft>
                <a:spcPts val="1000"/>
              </a:spcAft>
              <a:defRPr sz="1400">
                <a:solidFill>
                  <a:srgbClr val="333333"/>
                </a:solidFill>
                <a:latin typeface="Calibri"/>
              </a:defRPr>
            </a:pPr>
            <a:r>
              <a:t>• Critical path tasks delayed due to unassigned integration work.</a:t>
            </a:r>
          </a:p>
          <a:p>
            <a:pPr>
              <a:spcAft>
                <a:spcPts val="1000"/>
              </a:spcAft>
              <a:defRPr sz="1400">
                <a:solidFill>
                  <a:srgbClr val="333333"/>
                </a:solidFill>
                <a:latin typeface="Calibri"/>
              </a:defRPr>
            </a:pPr>
            <a:r>
              <a:t>• Downstream testing depends on immediate completion of integration mappings.</a:t>
            </a:r>
          </a:p>
        </p:txBody>
      </p:sp>
      <p:pic>
        <p:nvPicPr>
          <p:cNvPr id="5" name="Picture 4" descr="resource_chart.png"/>
          <p:cNvPicPr>
            <a:picLocks noChangeAspect="1"/>
          </p:cNvPicPr>
          <p:nvPr/>
        </p:nvPicPr>
        <p:blipFill>
          <a:blip r:embed="rId2"/>
          <a:stretch>
            <a:fillRect/>
          </a:stretch>
        </p:blipFill>
        <p:spPr>
          <a:xfrm>
            <a:off x="6217920" y="1463040"/>
            <a:ext cx="5486400" cy="3474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Strategic Recommendations</a:t>
            </a:r>
          </a:p>
          <a:p>
            <a:pPr>
              <a:defRPr i="1" sz="1200">
                <a:solidFill>
                  <a:srgbClr val="0096D6"/>
                </a:solidFill>
                <a:latin typeface="Calibri"/>
              </a:defRPr>
            </a:pPr>
            <a:r>
              <a:t>Actionable steps to stabilize portfolio health and recover timelines</a:t>
            </a:r>
          </a:p>
        </p:txBody>
      </p:sp>
      <p:sp>
        <p:nvSpPr>
          <p:cNvPr id="4" name="TextBox 3"/>
          <p:cNvSpPr txBox="1"/>
          <p:nvPr/>
        </p:nvSpPr>
        <p:spPr>
          <a:xfrm>
            <a:off x="457200" y="1280160"/>
            <a:ext cx="11277295" cy="4572000"/>
          </a:xfrm>
          <a:prstGeom prst="rect">
            <a:avLst/>
          </a:prstGeom>
          <a:noFill/>
        </p:spPr>
        <p:txBody>
          <a:bodyPr wrap="square">
            <a:spAutoFit/>
          </a:bodyPr>
          <a:lstStyle/>
          <a:p>
            <a:pPr>
              <a:spcAft>
                <a:spcPts val="1000"/>
              </a:spcAft>
              <a:defRPr sz="1400">
                <a:solidFill>
                  <a:srgbClr val="333333"/>
                </a:solidFill>
                <a:latin typeface="Calibri"/>
              </a:defRPr>
            </a:pPr>
            <a:r>
              <a:t>• Immediate Action: Assign dedicated owners to critical path tasks (Owner: PMs).</a:t>
            </a:r>
          </a:p>
          <a:p>
            <a:pPr>
              <a:spcAft>
                <a:spcPts val="1000"/>
              </a:spcAft>
              <a:defRPr sz="1400">
                <a:solidFill>
                  <a:srgbClr val="333333"/>
                </a:solidFill>
                <a:latin typeface="Calibri"/>
              </a:defRPr>
            </a:pPr>
            <a:r>
              <a:t>• Blocker Escalation: Set up priority call to resolve D&amp;B credentials (Owner: Zycus Sponsor).</a:t>
            </a:r>
          </a:p>
          <a:p>
            <a:pPr>
              <a:spcAft>
                <a:spcPts val="1000"/>
              </a:spcAft>
              <a:defRPr sz="1400">
                <a:solidFill>
                  <a:srgbClr val="333333"/>
                </a:solidFill>
                <a:latin typeface="Calibri"/>
              </a:defRPr>
            </a:pPr>
            <a:r>
              <a:t>• Timeline Re-baselining: Adjust S2P Phase 2 milestone expectations (Owner: Aftab H.).</a:t>
            </a:r>
          </a:p>
          <a:p>
            <a:pPr>
              <a:spcAft>
                <a:spcPts val="1000"/>
              </a:spcAft>
              <a:defRPr sz="1400">
                <a:solidFill>
                  <a:srgbClr val="333333"/>
                </a:solidFill>
                <a:latin typeface="Calibri"/>
              </a:defRPr>
            </a:pPr>
            <a:r>
              <a:t>• UAT Mitigation: Pull forward Plan B Phase II configuration validations (Owner: Rajat B.).</a:t>
            </a:r>
          </a:p>
          <a:p>
            <a:pPr>
              <a:spcAft>
                <a:spcPts val="1000"/>
              </a:spcAft>
              <a:defRPr sz="1400">
                <a:solidFill>
                  <a:srgbClr val="333333"/>
                </a:solidFill>
                <a:latin typeface="Calibri"/>
              </a:defRPr>
            </a:pPr>
            <a:r>
              <a:t>• Governance: Establish weekly cross-project syncs to monitor resource gaps.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1277295" cy="822960"/>
          </a:xfrm>
          <a:prstGeom prst="rect">
            <a:avLst/>
          </a:prstGeom>
          <a:noFill/>
        </p:spPr>
        <p:txBody>
          <a:bodyPr wrap="square">
            <a:spAutoFit/>
          </a:bodyPr>
          <a:lstStyle/>
          <a:p>
            <a:pPr>
              <a:defRPr b="1" sz="2400">
                <a:solidFill>
                  <a:srgbClr val="FFFFFF"/>
                </a:solidFill>
                <a:latin typeface="Calibri"/>
              </a:defRPr>
            </a:pPr>
            <a:r>
              <a:t>30-Day Outlook &amp; Forecast</a:t>
            </a:r>
          </a:p>
          <a:p>
            <a:pPr>
              <a:defRPr i="1" sz="1200">
                <a:solidFill>
                  <a:srgbClr val="0096D6"/>
                </a:solidFill>
                <a:latin typeface="Calibri"/>
              </a:defRPr>
            </a:pPr>
            <a:r>
              <a:t>Scenario analysis with and without proposed interventions</a:t>
            </a:r>
          </a:p>
        </p:txBody>
      </p:sp>
      <p:sp>
        <p:nvSpPr>
          <p:cNvPr id="4" name="TextBox 3"/>
          <p:cNvSpPr txBox="1"/>
          <p:nvPr/>
        </p:nvSpPr>
        <p:spPr>
          <a:xfrm>
            <a:off x="457200" y="1280160"/>
            <a:ext cx="11277295" cy="4572000"/>
          </a:xfrm>
          <a:prstGeom prst="rect">
            <a:avLst/>
          </a:prstGeom>
          <a:noFill/>
        </p:spPr>
        <p:txBody>
          <a:bodyPr wrap="square">
            <a:spAutoFit/>
          </a:bodyPr>
          <a:lstStyle/>
          <a:p>
            <a:pPr>
              <a:spcAft>
                <a:spcPts val="1000"/>
              </a:spcAft>
              <a:defRPr sz="1400">
                <a:solidFill>
                  <a:srgbClr val="333333"/>
                </a:solidFill>
                <a:latin typeface="Calibri"/>
              </a:defRPr>
            </a:pPr>
            <a:r>
              <a:t>• Without Intervention: S2P Phase 2 Go-Live will slip from Dec 2026 to Mar 2027.</a:t>
            </a:r>
          </a:p>
          <a:p>
            <a:pPr>
              <a:spcAft>
                <a:spcPts val="1000"/>
              </a:spcAft>
              <a:defRPr sz="1400">
                <a:solidFill>
                  <a:srgbClr val="333333"/>
                </a:solidFill>
                <a:latin typeface="Calibri"/>
              </a:defRPr>
            </a:pPr>
            <a:r>
              <a:t>• Without Intervention: Plan B Phase II milestones will suffer a 3-week cascade delay.</a:t>
            </a:r>
          </a:p>
          <a:p>
            <a:pPr>
              <a:spcAft>
                <a:spcPts val="1000"/>
              </a:spcAft>
              <a:defRPr sz="1400">
                <a:solidFill>
                  <a:srgbClr val="333333"/>
                </a:solidFill>
                <a:latin typeface="Calibri"/>
              </a:defRPr>
            </a:pPr>
            <a:r>
              <a:t>• With Intervention: Blocker resolution will recover 10 days of integration timeline.</a:t>
            </a:r>
          </a:p>
          <a:p>
            <a:pPr>
              <a:spcAft>
                <a:spcPts val="1000"/>
              </a:spcAft>
              <a:defRPr sz="1400">
                <a:solidFill>
                  <a:srgbClr val="333333"/>
                </a:solidFill>
                <a:latin typeface="Calibri"/>
              </a:defRPr>
            </a:pPr>
            <a:r>
              <a:t>• With Intervention: Resource allocation will stabilize S2P build progress.</a:t>
            </a:r>
          </a:p>
          <a:p>
            <a:pPr>
              <a:spcAft>
                <a:spcPts val="1000"/>
              </a:spcAft>
              <a:defRPr sz="1400">
                <a:solidFill>
                  <a:srgbClr val="333333"/>
                </a:solidFill>
                <a:latin typeface="Calibri"/>
              </a:defRPr>
            </a:pPr>
            <a:r>
              <a:t>• Milestone Decision: Lock resource assignments by July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