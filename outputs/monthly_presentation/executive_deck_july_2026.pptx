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summarizes the automated health assessment of the portfolio. Zycus - Titan S2P Implementation is AMBER with a composite health score of 60/100 (71% complete). Zycus - UniSan S2P Implementation is AMBER with a composite health score of 60/100 (44% complete).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 view across the reporting weeks. Score erosion is driven primarily by schedule performance and growing critical-path delays, not by task velocity.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are ranked from the weakest computed signals and the largest milestone variances.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schedule breakdown, generated from baseline-versus-actual variance in the project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Resource coverage is the portfolio's most consistent weakness; the donut chart shows assigned versus unassigned active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recommendation maps directly to a failing or weak signal in the RAG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Projection extrapolates the observed weekly score trend forward four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libri"/>
              </a:defRPr>
            </a:pPr>
            <a:r>
              <a:t>Portfolio Health Overview</a:t>
            </a:r>
          </a:p>
          <a:p>
            <a:pPr>
              <a:defRPr i="1" sz="1200">
                <a:solidFill>
                  <a:srgbClr val="0096D6"/>
                </a:solidFill>
                <a:latin typeface="Calibri"/>
              </a:defRPr>
            </a:pPr>
            <a:r>
              <a:t>Automated RAG assessment across 2 active implementations (2026-06-18 to 2026-07-02)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Zycus - Titan S2P Implementation is AMBER with a composite health score of 60/100 (71% complete).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Zycus - UniSan S2P Implementation is AMBER with a composite health score of 60/100 (44% complete).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Resource coverage is the portfolio's weakest signal: 86% of Titan S2P Implementation active tasks are unassigned, 38% of UniSan S2P Implementation active tasks are unassigned.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Combined, 280 active tasks across the portfolio have no owner, led by Zycus - Titan S2P Implementation.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Both projects carry schedule slippage on in-flight phases that is compressing downstream UAT and Hypercare windows.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371600"/>
            <a:ext cx="4389120" cy="2286000"/>
          </a:xfrm>
          <a:prstGeom prst="roundRect">
            <a:avLst/>
          </a:prstGeom>
          <a:solidFill>
            <a:srgbClr val="F4F6F9"/>
          </a:solidFill>
          <a:ln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2A4A"/>
                </a:solidFill>
              </a:defRPr>
            </a:pPr>
            <a:r>
              <a:t>Zycus - Titan S2P Implementation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Overall Status: 🟡 AMBER (60/100)</a:t>
            </a:r>
            <a:br/>
            <a:r>
              <a:t>Completion: 71%</a:t>
            </a:r>
            <a:br/>
            <a:r>
              <a:t>Schedule Index (SPI): 1.25</a:t>
            </a:r>
            <a:br/>
            <a:r>
              <a:t>Unassigned active tasks: 191 (86%)</a:t>
            </a:r>
            <a:br/>
            <a:r>
              <a:t>Data confidence: 92%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3840480"/>
            <a:ext cx="4389120" cy="2286000"/>
          </a:xfrm>
          <a:prstGeom prst="roundRect">
            <a:avLst/>
          </a:prstGeom>
          <a:solidFill>
            <a:srgbClr val="F4F6F9"/>
          </a:solidFill>
          <a:ln>
            <a:solidFill>
              <a:srgbClr val="2D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2A4A"/>
                </a:solidFill>
              </a:defRPr>
            </a:pPr>
            <a:r>
              <a:t>Zycus - UniSan S2P Implementation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Overall Status: 🟡 AMBER (60/100)</a:t>
            </a:r>
            <a:br/>
            <a:r>
              <a:t>Completion: 44%</a:t>
            </a:r>
            <a:br/>
            <a:r>
              <a:t>Schedule Index (SPI): 0.75</a:t>
            </a:r>
            <a:br/>
            <a:r>
              <a:t>Unassigned active tasks: 89 (38%)</a:t>
            </a:r>
            <a:br/>
            <a:r>
              <a:t>Data confidence: 96%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libri"/>
              </a:defRPr>
            </a:pPr>
            <a:r>
              <a:t>Portfolio Trajectory Trends</a:t>
            </a:r>
          </a:p>
          <a:p>
            <a:pPr>
              <a:defRPr i="1" sz="1200">
                <a:solidFill>
                  <a:srgbClr val="0096D6"/>
                </a:solidFill>
                <a:latin typeface="Calibri"/>
              </a:defRPr>
            </a:pPr>
            <a:r>
              <a:t>Composite health score movement across the reporting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Zycus - Titan S2P Implementation: composite score moved from 62 to 60 (-2.2 pts) over 2026-06-18 to 2026-07-02 — trajectory STABLE.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Zycus - UniSan S2P Implementation: composite score moved from 69 to 60 (-8.7 pts) over 2026-06-18 to 2026-07-02 — trajectory DECLINING.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Portfolio-average health changed -5.4 points over the period; overall trajectory is DECLINING.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Score erosion is driven primarily by schedule performance and growing critical-path delays, not by task velocity.</a:t>
            </a:r>
          </a:p>
        </p:txBody>
      </p:sp>
      <p:pic>
        <p:nvPicPr>
          <p:cNvPr id="5" name="Picture 4" descr="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libri"/>
              </a:defRPr>
            </a:pPr>
            <a:r>
              <a:t>Critical Risk Matrix</a:t>
            </a:r>
          </a:p>
          <a:p>
            <a:pPr>
              <a:defRPr i="1" sz="1200">
                <a:solidFill>
                  <a:srgbClr val="0096D6"/>
                </a:solidFill>
                <a:latin typeface="Calibri"/>
              </a:defRPr>
            </a:pPr>
            <a:r>
              <a:t>Top risks ranked by signal severity and milestone slippage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Risk 1: Titan S2P Implementation — Resource Coverage scored 15/100. Resource assignment coverage is 14.0%. 191 of 222 active tasks have no assigned owner.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Risk 2: Titan S2P Implementation — Schedule Performance scored 30/100. SPI = 1.25. Project is 71.0% complete vs 56.9% elapsed timeline. Critical schedule slippage of…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Risk 3: Titan S2P Implementation — milestone 'Phase 2 - P2P' is 81 days behind baseline.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Risk 4: UniSan S2P Implementation — Schedule Performance scored 40/100. SPI = 0.75. Project is 44.0% complete vs 58.8% elapsed timeline. Max schedule slippage is 8…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Risk 5: UniSan S2P Implementation — Task Completion Velocity scored 40/100. Task Completion Velocity Ratio: 0.75 (44.0% actual progress vs 58.8% elapsed timeline).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371600"/>
            <a:ext cx="3931920" cy="4480560"/>
          </a:xfrm>
          <a:prstGeom prst="rect">
            <a:avLst/>
          </a:prstGeom>
          <a:solidFill>
            <a:srgbClr val="F4F6F9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B2A4A"/>
                </a:solidFill>
              </a:defRPr>
            </a:pPr>
            <a:r>
              <a:t>CRITICAL RISK HEATMAP</a:t>
            </a:r>
          </a:p>
          <a:p>
            <a:br/>
            <a:pPr>
              <a:defRPr sz="1000">
                <a:solidFill>
                  <a:srgbClr val="333333"/>
                </a:solidFill>
              </a:defRPr>
            </a:pPr>
            <a:r>
              <a:t>🔥 [HIGH IMPACT / HIGH LIKELIHOOD]</a:t>
            </a:r>
            <a:br/>
            <a:r>
              <a:t>- Titan S2P Implementation: Resource Coverage (15/100)</a:t>
            </a:r>
            <a:br/>
            <a:r>
              <a:t>- Titan S2P Implementation: Schedule Performance (30/100)</a:t>
            </a:r>
            <a:br/>
            <a:r>
              <a:t>- Titan S2P Implementation: Phase 2 - P2P (-81d)</a:t>
            </a:r>
            <a:br/>
            <a:br/>
            <a:r>
              <a:t>⚡ [HIGH IMPACT / MED LIKELIHOOD]</a:t>
            </a:r>
            <a:br/>
            <a:r>
              <a:t>- UniSan S2P Implementation: Schedule Performance (40/100)</a:t>
            </a:r>
            <a:br/>
            <a:r>
              <a:t>- UniSan S2P Implementation: Task Completion Velocity (40/100)</a:t>
            </a:r>
            <a:br/>
            <a:r>
              <a:t>- UniSan S2P Implementation: Resource Coverage (40/100)</a:t>
            </a:r>
            <a:br/>
            <a:br/>
            <a:r>
              <a:t>⚠️ [MED IMPACT / MED LIKELIHOOD]</a:t>
            </a:r>
            <a:br/>
            <a:r>
              <a:t>- Titan S2P Implementation: Blocker Density (60/100)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libri"/>
              </a:defRPr>
            </a:pPr>
            <a:r>
              <a:t>Schedule Performance Deep-Dive</a:t>
            </a:r>
          </a:p>
          <a:p>
            <a:pPr>
              <a:defRPr i="1" sz="1200">
                <a:solidFill>
                  <a:srgbClr val="0096D6"/>
                </a:solidFill>
                <a:latin typeface="Calibri"/>
              </a:defRPr>
            </a:pPr>
            <a:r>
              <a:t>Milestone slippage and schedule signal detail by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Titan S2P Implementation: schedule signal 30/100 — SPI = 1.25. Project is 71.0% complete vs 56.9% elapsed timeline. Critical schedule slippage of 81 days detected.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Titan S2P Implementation: 'Phase 2 - P2P' running 81 days behind baseline (In Progress).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Titan S2P Implementation: 'P2P Cutover' running 62 days behind baseline (Not Started).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UniSan S2P Implementation: schedule signal 40/100 — SPI = 0.75. Project is 44.0% complete vs 58.8% elapsed timeline. Max schedule slippage is 8 days.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UniSan S2P Implementation: 'Zycus - UniSan S2P Implementation' running 8 days behind baseline (In Progress).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libri"/>
              </a:defRPr>
            </a:pPr>
            <a:r>
              <a:t>Resource Gaps &amp; Dependency Analysis</a:t>
            </a:r>
          </a:p>
          <a:p>
            <a:pPr>
              <a:defRPr i="1" sz="1200">
                <a:solidFill>
                  <a:srgbClr val="0096D6"/>
                </a:solidFill>
                <a:latin typeface="Calibri"/>
              </a:defRPr>
            </a:pPr>
            <a:r>
              <a:t>Ownership coverage and critical-path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Titan S2P Implementation: 191 of 222 active tasks (86%) have no assigned owner; 3 tasks are On Hold.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Titan S2P Implementation: dependency risk 70/100 — Dependency risk: 11 of 15 critical path tasks are delayed. 18 active tasks have low schedule float (&lt;= 3…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UniSan S2P Implementation: 89 of 234 active tasks (38%) have no assigned owner; 0 tasks are On Hold.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UniSan S2P Implementation: dependency risk 70/100 — Dependency risk: 2 of 50 critical path tasks are delayed. 32 active tasks have low schedule float (&lt;= 3…</a:t>
            </a:r>
          </a:p>
        </p:txBody>
      </p:sp>
      <p:pic>
        <p:nvPicPr>
          <p:cNvPr id="5" name="Picture 4" descr="resourc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libri"/>
              </a:defRPr>
            </a:pPr>
            <a:r>
              <a:t>Strategic Recommendations</a:t>
            </a:r>
          </a:p>
          <a:p>
            <a:pPr>
              <a:defRPr i="1" sz="1200">
                <a:solidFill>
                  <a:srgbClr val="0096D6"/>
                </a:solidFill>
                <a:latin typeface="Calibri"/>
              </a:defRPr>
            </a:pPr>
            <a:r>
              <a:t>Actions mapped to the weakest health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Assign dedicated owners to all unassigned critical-path tasks within one week (Owner: Project Managers).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Re-baseline milestones with material negative variance and publish a recovery plan (Owner: Delivery Leads).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Escalate all 'On Hold' blockers to the executive sponsor for resolution this cycle (Owner: Sponsor).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Governance: establish a weekly cross-project health review using this automated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libri"/>
              </a:defRPr>
            </a:pPr>
            <a:r>
              <a:t>30-Day Outlook &amp; Forecast</a:t>
            </a:r>
          </a:p>
          <a:p>
            <a:pPr>
              <a:defRPr i="1" sz="1200">
                <a:solidFill>
                  <a:srgbClr val="0096D6"/>
                </a:solidFill>
                <a:latin typeface="Calibri"/>
              </a:defRPr>
            </a:pPr>
            <a:r>
              <a:t>Trend-based projection with and without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Titan S2P Implementation: at the current trend (-1.1 pts/week), the composite score is projected at ~55/100 in 30 days.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UniSan S2P Implementation: at the current trend (-4.3 pts/week), the composite score is projected at ~43/100 in 30 days.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With intervention (owner assignment + blocker escalation), resource and blocker signals can recover within two reporting cycles.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Decision required: lock resource assignments and approve re-baselined milestones at the next steering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